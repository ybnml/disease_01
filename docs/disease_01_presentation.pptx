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P1b에서 최고 성능을 보인 ViT-Small의 confusion matrix. 궤양병 recall 거의 완벽.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P4-A1 장기학습 결과: under-fit이었던 yolov8m이 30ep에 mAP@0.5 0.9945 달성.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P4-A2 결과. 초록=정상, 빨강=궤양병. GT와 예측이 거의 겹침.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노트북 05에서 실행한 3-panel scatter. ViT-Small이 Pareto-optimal.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ViT-Small이 정확도 최고 + latency 최저 — Apple MPS에서 Transformer가 기존 CNN보다 빠르게 동작한 흥미로운 발견. MobileNetV3은 throughput 왕 (264 FPS, 4.2M params).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epoch로는 yolov8m이 under-fit. yolov8s가 정확도+속도 균형 최고. yolov8n은 엣지/모바일 유력 (168 FPS).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DeepLabV3+ 우승. Atrous conv로 공간 정보 복원이 병변 경계에 유리. Decoder 교체 &gt; Encoder 경량화.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크기 73% 축소 + 정확도 완전 보존. 그러나 CPU에서 dynamic quant 오버헤드로 latency 오히려 증가. 교훈: 양자화 ≠ 항상 빠름. 크기 제약 환경에서 유용.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ResNet50이 정상 샘플에서 과일 중앙~표면 텍스처에 집중하는 패턴.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병변성 패턴을 가진 영역에 모델 attention이 몰림.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65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감귤 궤양병 CV 파이프라인</a:t>
            </a:r>
          </a:p>
          <a:p>
            <a:r>
              <a:rPr sz="2000" b="0">
                <a:solidFill>
                  <a:srgbClr val="FFFFFF"/>
                </a:solidFill>
                <a:latin typeface="Malgun Gothic"/>
              </a:rPr>
              <a:t>disease_01 — Classification / Detection / Segmentation + 비교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115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165B33"/>
                </a:solidFill>
                <a:latin typeface="Malgun Gothic"/>
              </a:rPr>
              <a:t>YBNML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1F1F"/>
                </a:solidFill>
                <a:latin typeface="Malgun Gothic"/>
              </a:rPr>
              <a:t>AI Hub 감귤 병충해 데이터 / Apple M4 MPS 환경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1F1F1F"/>
                </a:solidFill>
                <a:latin typeface="Malgun 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Malgun Gothic"/>
              </a:rPr>
              <a:t>프로젝트 목표 · 알고리즘 · 결과 · 인사이트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Malgun Gothic"/>
              </a:rPr>
              <a:t>GitHub: github.com/YBNML/disease_01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1F1F1F"/>
                </a:solidFill>
                <a:latin typeface="Malgun 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algun Gothic"/>
              </a:rPr>
              <a:t>발표 일시: 2026-04-21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1. 프로젝트 개요 (목적 · 데이터)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2. 아키텍처 &amp; 파이프라인 설계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3. 3가지 CV 태스크 구현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P1 Classification / P2 Detection / P3 Segmentation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4. 비교 실험 3종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P1b 백본 / P2b YOLO / P3b Seg 아키텍처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5. 배포 실험 (장기학습 · 양자화 · Distillation)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6. 분석 노트북 &amp; 핵심 인사이트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7. 한계 &amp;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5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1. 프로젝트 개요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목적과 데이터셋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프로젝트 목적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문제 정의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수확된 감귤(온주밀감)의 정상 vs 궤양병(canker) 자동 검수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데이터셋은 꼭지 잘린 수확 후 과일을 배경 분리된 환경에서 촬영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필요성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궤양병은 감귤류 주요 질병 — 상품성·수출 검역에 직접 영향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수확·선별 단계 자동 품질 검수로 인력 비용 절감 + 기준 일관성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불량 과일 조기 제거로 유통·저장 중 오염 확산 방지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접근 방법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3가지 CV 태스크를 공통 모듈 위에 구축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모델 아키텍처 비교로 배포 관점 평가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TDD 기반 재현 가능한 실험 프레임워크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데이터셋: AI Hub 감귤 병충해 영상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출처: AI Hub 감귤 병충해 영상 데이터 (온주밀감)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총 3,834장 — 정상 2,290 / 궤양병 1,544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Train 3,407 / Val 427 (AI Hub 제공 split 유지)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Polygon 라벨 보유: 787장 (Detection/Segmentation용)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이미지 특성 — 수확·선별 단계 검수용 촬영본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꼭지 잘린 수확 후 과일을 흰 배경에 놓고 촬영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1920×1080, 이미지당 감귤 1개 (단일 객체)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풍부한 메타데이터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카메라(Samsung/Xiaomi/LGE), 지역(10곳), 노지/온실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환경(기온/습도/일사량/토양수분/강수)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성장단계, 촬영시기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5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2. 아키텍처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설계 원칙과 모듈 구성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설계 원칙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DRY — 공통 모듈 재사용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데이터 로딩 · 라벨 파싱 · 설정 · 유틸을 common/ 하나로 통일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태스크별 독립성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classification/ detection/ segmentation/ 각 태스크가 common/만 의존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TDD — 총 93개 테스트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라벨 파싱 / Dataset / Metrics / Loss 모두 단위 테스트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재현성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고정 seed(42) + 타임스탬프 output + config 스냅샷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Config-driven 실험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YAML + CLI override로 하이퍼파라미터 실험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데이터 파이프라인 &amp; 라벨 변환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AI Hub JSON → Python dict (load_sample)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ANTN_PT 문자열 파싱: '[x1|x2|...],[y1|y2|...]' → (N, 2) int array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태스크별 변환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Classification: 폴더명 → 0(정상) / 1(궤양병)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Detection: polygon → bbox → YOLO format (정규화)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Segmentation: polygon → 픽셀 mask (0:bg, 1:normal, 2:canker)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메타데이터 동시 반환 (Phase 2 대비)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카메라 · 지역 · 환경값을 Dataset 샘플에 포함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5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3. 3가지 CV 태스크 구현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P1 Classification / P2 Detection / P3 Segmentation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5B33"/>
                </a:solidFill>
                <a:latin typeface="Malgun Gothic"/>
              </a:rPr>
              <a:t>결과 이미지 — ViT-Small Confusion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s_vit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598" y="1280160"/>
            <a:ext cx="6286499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Malgun Gothic"/>
              </a:rPr>
              <a:t>ViT-Small/16 on val set (427) — 오분류 4장 (FN 1, FP 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P1 — Classification (ResNet50)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모델 &amp; 학습 설정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torchvision ResNet50 (ImageNet pretrained), FC → 2-class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AdamW (lr=1e-4) + CosineAnnealingLR + CrossEntropyLoss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WeightedRandomSampler로 클래스 불균형 처리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Best checkpoint: val F1 (궤양병 class)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결과 — 2 epochs on MPS (약 6분)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Accuracy 98.83% / F1 0.986 / AUC 0.999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궤양병 Recall 100% (놓친 사례 0장)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FP 5장 / FN 0장 — 의료적 스크리닝에 이상적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5B33"/>
                </a:solidFill>
                <a:latin typeface="Malgun Gothic"/>
              </a:rPr>
              <a:t>결과 이미지 — YOLOv8m 30ep 학습 곡선 &amp; Confusion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t_yolov8m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501487" cy="2750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22344"/>
            <a:ext cx="55014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Malgun Gothic"/>
              </a:rPr>
              <a:t>Training curves (loss &amp; mAP over 30 epochs)</a:t>
            </a:r>
          </a:p>
        </p:txBody>
      </p:sp>
      <p:pic>
        <p:nvPicPr>
          <p:cNvPr id="6" name="Picture 5" descr="det_yolov8m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280160"/>
            <a:ext cx="5501487" cy="41261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33007" y="5497715"/>
            <a:ext cx="55014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Malgun Gothic"/>
              </a:rPr>
              <a:t>Confusion matrix (val 88 images)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P2 — Detection (YOLOv8s)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모델 &amp; 학습 설정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ultralytics YOLOv8s (COCO pretrained)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AI Hub polygon → YOLO bbox 포맷 변환 (787장)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SGD + 내장 augmentation (mosaic/mixup)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imgsz=640, batch=16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결과 — 5 epochs on MPS (약 6분)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mAP@0.5: 0.994 / mAP@0.5:0.95: 0.989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Normal AP 0.994 / Canker AP 0.995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배경 흰색 + 단일 객체 → 난이도 본질적으로 낮음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5B33"/>
                </a:solidFill>
                <a:latin typeface="Malgun Gothic"/>
              </a:rPr>
              <a:t>결과 이미지 — Segmentation 정성 샘플 (DeepLabV3+ 20ep)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g_sampl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501487" cy="18338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205429"/>
            <a:ext cx="55014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Malgun Gothic"/>
              </a:rPr>
              <a:t>샘플 #1 (원본 | GT mask | 예측 mask)</a:t>
            </a:r>
          </a:p>
        </p:txBody>
      </p:sp>
      <p:pic>
        <p:nvPicPr>
          <p:cNvPr id="6" name="Picture 5" descr="seg_sample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280160"/>
            <a:ext cx="5501487" cy="18338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33007" y="3205429"/>
            <a:ext cx="55014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Malgun Gothic"/>
              </a:rPr>
              <a:t>샘플 #2 (원본 | GT mask | 예측 mask)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P3 — Segmentation (smp U-Net + ResNet34)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모델 &amp; 학습 설정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smp U-Net encoder=ResNet34 (ImageNet pretrained)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3-class semantic: bg / 정상 / 궤양병 — 단일 모델로 분류+분할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AdamW + Cosine + 0.5×CE + 0.5×DiceLoss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albumentations로 image+mask 동시 변환 (mask NN interp)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결과 — 3 epochs on MPS (약 8분)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mIoU 0.940 / Pixel Accuracy 99.3%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IoU: bg 0.998 / 정상 0.937 / 궤양병 0.886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궤양병 최약 — polygon이 병변 아닌 과일 외곽이라는 한계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5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4. 비교 실험 3종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백본 · YOLO variants · Seg 아키텍처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5B33"/>
                </a:solidFill>
                <a:latin typeface="Malgun Gothic"/>
              </a:rPr>
              <a:t>결과 이미지 — P1b 백본 비교 시각화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b05_fi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32482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1981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Malgun Gothic"/>
              </a:rPr>
              <a:t>scatter: params vs accuracy / latency vs F1 / throughput vs accuracy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P1b — Classification 백본 비교 (5 models, 5 epochs)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Params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Accuracy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F1 (canker)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Latency bs=1 (ms)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FPS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ViT-Small/16 🏆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21.7M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99.06%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0.988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5.94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175.0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ConvNeXt-Tiny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27.8M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98.83%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0.986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7.18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109.8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ResNet50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23.5M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98.83%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0.986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27.86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83.8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MobileNetV3-L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4.2M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97.66%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0.971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13.12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264.6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EfficientNet-B0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4.0M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97.42%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0.968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19.68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160.6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P2b — YOLOv8 variants 비교 (n/s/m, 5 epochs)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Params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mAP@0.5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mAP@0.5:0.95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Latency (ms)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FPS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yolov8n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3.0M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0.9926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0.9907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8.87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168.9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yolov8s 🏆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11.1M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0.9933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0.9917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17.24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68.3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yolov8m (5ep under-fit)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25.9M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0.9909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0.9860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34.91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30.2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P3b — Segmentation 아키텍처 비교 (4 combos, 3 epochs)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/>
                <a:gridCol w="1611042"/>
                <a:gridCol w="1611042"/>
                <a:gridCol w="1611042"/>
                <a:gridCol w="1611042"/>
                <a:gridCol w="1611042"/>
                <a:gridCol w="1611043"/>
              </a:tblGrid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Label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Arch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Encoder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Params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mIoU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IoU canker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FPS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unet_resnet34 (baseline)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Unet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resnet34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24.4M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0.9616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0.9291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40.5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deeplabv3plus_resnet34 🏆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DeepLabV3+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resnet34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22.4M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0.9777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0.9621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36.1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fpn_resnet34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FPN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resnet34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23.2M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0.9677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0.9400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41.6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unet_efficientnet-b0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Unet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efficientnet-b0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6.3M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0.9077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0.8172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43.3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5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5. 배포 실험 (P4)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장기학습 · 양자화 · Knowledge Distillation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P4-A1 — yolov8m 30 epoch (under-fit 가설 검증)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P2b에서의 의문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5ep에 yolov8m(0.991)이 yolov8s(0.993)보다 낮음 — under-fit?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검증: 30 epoch로 재학습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Epoch 5 → 10 → 20 → 30 mAP@0.5: 0.927 → 0.991 → 0.988 → 0.9945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결론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Under-fit 가설 확인 — 충분한 학습이 있어야 모델 capacity 발휘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큰 모델은 '긴 학습'이 조건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P4-A2 — DeepLabV3+ 20 epoch (장기 학습)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P3b 3ep vs P4 20ep 비교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mIoU: 0.9777 → 0.9836 (+0.006)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궤양병 IoU: 0.9621 → 0.9721 (+0.010)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정상 IoU: 0.9732 → 0.9805 (+0.007)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17~20 epoch 구간 수렴 관찰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추가 개선을 위해서는 데이터·라벨 품질 개선이 필요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교훈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장기 학습의 ROI는 데이터 난이도에 강하게 의존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P4-G — ViT-Small INT8 양자화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15849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Size (MB)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Accuracy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F1 (canker)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Latency bs=1 (ms)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Throughput (FPS)</a:t>
                      </a:r>
                    </a:p>
                  </a:txBody>
                  <a:tcPr>
                    <a:solidFill>
                      <a:srgbClr val="165B33"/>
                    </a:solidFill>
                  </a:tcPr>
                </a:tc>
              </a:tr>
              <a:tr h="1584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fp32 (baseline)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82.7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0.9906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0.9884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18.5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88.9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1584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int8 (dynamic)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22.0 (−73%)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0.9906 (동일)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0.9884 (동일)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32.2 (+74%)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1F1F"/>
                          </a:solidFill>
                          <a:latin typeface="Malgun Gothic"/>
                        </a:rPr>
                        <a:t>38.5 (−57%)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P4-H — Knowledge Distillation (ViT → MobileNetV3)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구성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Teacher: ViT-Small/16 (21.7M, F1=0.988) — frozen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Student: MobileNetV3-Large (4.2M)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Loss: α×CE + (1-α)×T²×KL, α=0.5, T=4.0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결과 (5 epoch)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Student F1 = 0.962  (plain MobileNetV3 P1b는 0.971)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Distillation이 plain보다 오히려 약간 낮음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해석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α/T 하이퍼파라미터 튜닝 미흡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데이터가 쉬워 학생이 이미 충분 → KD 이득 제한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교훈: KD는 마법이 아니다. 적절한 세팅·데이터 난이도 필요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5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6. 분석 &amp; 인사이트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Grad-CAM / FP 분석 / 핵심 발견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5B33"/>
                </a:solidFill>
                <a:latin typeface="Malgun Gothic"/>
              </a:rPr>
              <a:t>결과 이미지 — Grad-CAM (정상 샘플)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b07_gradca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269" y="1280160"/>
            <a:ext cx="2317157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Malgun Gothic"/>
              </a:rPr>
              <a:t>4장의 정상 감귤 샘플에 Grad-CAM overlay — 모델이 어디를 보는가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5B33"/>
                </a:solidFill>
                <a:latin typeface="Malgun Gothic"/>
              </a:rPr>
              <a:t>결과 이미지 — Grad-CAM (궤양병 샘플)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b07_gradca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269" y="1280160"/>
            <a:ext cx="2317157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Malgun Gothic"/>
              </a:rPr>
              <a:t>궤양병 감귤 샘플 Grad-CAM — 병변 추정 영역에 activation 집중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분석 노트북 8종 (docs/analysis/)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01 Dataset EDA — 클래스 분포 · polygon 커버리지 · 메타데이터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02 Classification 심층 — 학습 곡선 · CM · 오분류 · ROC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03 Detection 심층 — bbox 시각화 · per-class AP · 실패 케이스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04 Segmentation 심층 — mask 시각화 · IoU/Dice · failure cases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05 Backbone 비교 심층 — Pareto frontier · 배포 시나리오 (실행 완료)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06 Lessons learned — 설계 근거 · 트러블슈팅 · 다음 계획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07 Grad-CAM 시각화 — 모델이 어디를 보고 판단?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 08 FP 오분류 분석 — 4장 FP 공통점 탐색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FP(False Positive) 오분류 분석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ResNet50 val set에서 오분류 5장 (정상→궤양병 4 + 궤양병→정상 1)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4장 FP 공통점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모두 Samsung(3) 또는 LGE(1) 카메라 — Xiaomi 없음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고습 조건 (습도 69~100%)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예측 확률 0.94+ — 고신뢰도 오판 (hard cases)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일부는 저조도 + 늦가을 저온 조건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시사점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환경·카메라 condition이 모델의 실제 에러 패턴을 설명 가능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향후 멀티모달 / 도메인 분석에 실마리 제공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핵심 인사이트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1. 데이터 난이도가 실험 설계를 규정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모든 모델이 97%+ → 정확도 차별화는 미미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실질 차별화는 속도 · 크기에서 발생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2. Pretraining의 힘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ImageNet pretrained만으로 2 epoch에 98% 이상 수렴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Scratch 학습 대비 시간·성능 둘 다 압도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3. Transformer의 MPS 효율성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ViT-Small이 conv 모델(ResNet/ConvNeXt)보다 빠름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Apple Neural Engine이 attention 연산에 유리한 것으로 추정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핵심 인사이트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4. 장기 학습의 가치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큰 모델일수록 under-fit 가능성 ↑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yolov8m 5ep → 30ep로 mAP +0.003 상승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5. 양자화 ≠ 항상 빠름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Apple Silicon + 작은 ViT에서 dynamic INT8 오히려 느림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크기 이득은 분명하나 속도는 컨텍스트 의존적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6. Distillation의 한계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학생이 이미 충분히 좋으면 KD 이득 제한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α/T 하이퍼파라미터 튜닝이 결정적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7. 라벨 한계의 본질적 제약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Polygon이 과일 외곽선 — 진짜 병변 위치가 아님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궤양병 IoU가 모든 실험에서 최약 → 라벨 품질이 천장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5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7. 한계 &amp; 향후 계획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Limitations and Future Work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한계 (Limitations)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라벨의 의미적 한계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Polygon은 과일 외곽선이지 병변 영역이 아님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진정한 '병변 분할'은 별도 라벨링 필요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데이터가 쉬움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배경 흰색 사전처리 — 자연 배경 robustness 미검증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이미지당 단일 객체 — 다중 객체 일반화 미확인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2-class binary — 다른 병해와 구분 불가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도메인 shift 미검증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카메라/지역/시기 기반 split 실험 부재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MPS 벤치마킹 특이사항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일부 연산 CPU fallback, 절대 latency는 환경 의존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향후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단기 가능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Distillation 하이퍼파라미터 sweep (α, T)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양자화: static PTQ 또는 QAT로 속도 개선 시도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중기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도메인 일반화 — Leave-one-camera-out / location-out 평가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멀티모달 — 외부 기상 시계열 결합 (AI Hub 외부 CSV 필요)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장기 / 별도 프로젝트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병변 단위 라벨링 (canker lesion-level segmentation)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CoreML export + iOS/iPadOS 앱 통합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현장 데이터 수집 (야외, 다양한 조명)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5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요약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개발 성과 · 학습 · 공개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개발 성과 한눈에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구현 완료 Phase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P0 Common / P1 Classification / P2 Detection / P3 Segmentation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P1b 백본 비교 / P2b YOLO variants / P3b Seg 아키텍처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P4 장기학습(A1·A2) / 양자화(G) / Distillation(H)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성능 Highlights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Classification Acc 98.83%, canker Recall 100%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Detection mAP@0.5 0.994 (5ep) → 0.9945 (30ep)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Segmentation mIoU 0.9836 (20ep DeepLabV3+)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배포 Highlights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ViT-Small INT8: 크기 −73%, 정확도 유지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MobileNetV3 264 FPS (모바일 후보)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5B33"/>
                </a:solidFill>
                <a:latin typeface="Malgun Gothic"/>
              </a:rPr>
              <a:t>재현성 &amp; 공개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371600" cy="38100"/>
          </a:xfrm>
          <a:prstGeom prst="rect">
            <a:avLst/>
          </a:prstGeom>
          <a:solidFill>
            <a:srgbClr val="E8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코드 품질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93개 pytest (unit + integration)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~70개 atomic commits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TDD + 설계 스펙 + Phase별 구현 plan 문서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재현성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environment.yml로 env 재현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YAML config + seed + timestamped output + config snapshot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1F1F"/>
                </a:solidFill>
                <a:latin typeface="Malgun Gothic"/>
              </a:rPr>
              <a:t>•  공개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GitHub: github.com/YBNML/disease_01 (public)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README에 알고리즘 원리 · 학습 로직 · 결과 해석 전부 수록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Malgun Gothic"/>
              </a:rPr>
              <a:t>    –  Jupyter 분석 노트북 8종 (GitHub 바로 렌더링)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5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Malgun Gothic"/>
              </a:rPr>
              <a:t>감사합니다</a:t>
            </a:r>
          </a:p>
          <a:p>
            <a:r>
              <a:rPr sz="2800" b="0">
                <a:solidFill>
                  <a:srgbClr val="FFFFFF"/>
                </a:solidFill>
                <a:latin typeface="Malgun Gothic"/>
              </a:rPr>
              <a:t>Q &amp; A</a:t>
            </a:r>
          </a:p>
          <a:p>
            <a:r>
              <a:rPr sz="1600" b="0">
                <a:solidFill>
                  <a:srgbClr val="FFFFFF"/>
                </a:solidFill>
                <a:latin typeface="Malgun Gothic"/>
              </a:rPr>
              <a:t>github.com/YBNML/disease_01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